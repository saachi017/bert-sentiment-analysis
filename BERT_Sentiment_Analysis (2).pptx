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3734" y="970552"/>
            <a:ext cx="7318265" cy="58874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1906" y="541618"/>
            <a:ext cx="43186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1039" y="374196"/>
            <a:ext cx="628992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0455" y="1188033"/>
            <a:ext cx="7610475" cy="404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1091" y="845971"/>
            <a:ext cx="92494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Can</a:t>
            </a:r>
            <a:r>
              <a:rPr dirty="0" sz="4000" spc="-45"/>
              <a:t> </a:t>
            </a:r>
            <a:r>
              <a:rPr dirty="0" sz="4000"/>
              <a:t>BERT</a:t>
            </a:r>
            <a:r>
              <a:rPr dirty="0" sz="4000" spc="-40"/>
              <a:t> </a:t>
            </a:r>
            <a:r>
              <a:rPr dirty="0" sz="4000"/>
              <a:t>Understand</a:t>
            </a:r>
            <a:r>
              <a:rPr dirty="0" sz="4000" spc="-40"/>
              <a:t> </a:t>
            </a:r>
            <a:r>
              <a:rPr dirty="0" sz="4000"/>
              <a:t>How</a:t>
            </a:r>
            <a:r>
              <a:rPr dirty="0" sz="4000" spc="-40"/>
              <a:t> </a:t>
            </a:r>
            <a:r>
              <a:rPr dirty="0" sz="4000"/>
              <a:t>You</a:t>
            </a:r>
            <a:r>
              <a:rPr dirty="0" sz="4000" spc="-45"/>
              <a:t> </a:t>
            </a:r>
            <a:r>
              <a:rPr dirty="0" sz="4000" spc="-10"/>
              <a:t>Feel?</a:t>
            </a:r>
            <a:endParaRPr sz="40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95056"/>
            <a:ext cx="3948526" cy="51629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58616" y="1791995"/>
            <a:ext cx="70408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7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r>
              <a:rPr dirty="0" sz="17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Pre-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trained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7149" y="4048188"/>
            <a:ext cx="162877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By: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Vedanti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Raut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Saachi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Laturiya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Utkarsh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Salunkhe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Vaidik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Samarth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592" y="3243821"/>
            <a:ext cx="4145407" cy="36141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05305" y="4332795"/>
            <a:ext cx="20808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Guided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By: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Anuradha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Yenkikar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The</a:t>
            </a:r>
            <a:r>
              <a:rPr dirty="0" sz="4000" spc="-30"/>
              <a:t> </a:t>
            </a:r>
            <a:r>
              <a:rPr dirty="0" sz="4000"/>
              <a:t>Words</a:t>
            </a:r>
            <a:r>
              <a:rPr dirty="0" sz="4000" spc="-30"/>
              <a:t> </a:t>
            </a:r>
            <a:r>
              <a:rPr dirty="0" sz="4000"/>
              <a:t>Aren’t</a:t>
            </a:r>
            <a:r>
              <a:rPr dirty="0" sz="4000" spc="-30"/>
              <a:t> </a:t>
            </a:r>
            <a:r>
              <a:rPr dirty="0" sz="4000" spc="-10"/>
              <a:t>Enough</a:t>
            </a:r>
            <a:endParaRPr sz="40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41221"/>
            <a:ext cx="3243493" cy="54167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9931" y="2458466"/>
            <a:ext cx="3439033" cy="231611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503045" y="2458466"/>
            <a:ext cx="4689475" cy="4399915"/>
            <a:chOff x="7503045" y="2458466"/>
            <a:chExt cx="4689475" cy="439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592" y="4023626"/>
              <a:ext cx="4145407" cy="28343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3045" y="2458466"/>
              <a:ext cx="3439033" cy="231611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085331" y="1198176"/>
            <a:ext cx="8069580" cy="307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922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meaning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5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identifying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emotional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tone</a:t>
            </a:r>
            <a:r>
              <a:rPr dirty="0" sz="15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FFFFFF"/>
                </a:solidFill>
                <a:latin typeface="Arial"/>
                <a:cs typeface="Arial"/>
              </a:rPr>
              <a:t>expressed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FFFFFF"/>
                </a:solidFill>
                <a:latin typeface="Arial"/>
                <a:cs typeface="Arial"/>
              </a:rPr>
              <a:t>text.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500">
              <a:latin typeface="Arial"/>
              <a:cs typeface="Arial"/>
            </a:endParaRPr>
          </a:p>
          <a:p>
            <a:pPr algn="ctr" marL="8636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word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FFFFFF"/>
                </a:solidFill>
                <a:latin typeface="Arial"/>
                <a:cs typeface="Arial"/>
              </a:rPr>
              <a:t>SICK</a:t>
            </a:r>
            <a:endParaRPr sz="1600">
              <a:latin typeface="Arial"/>
              <a:cs typeface="Arial"/>
            </a:endParaRPr>
          </a:p>
          <a:p>
            <a:pPr algn="ctr" marL="2925445" marR="2831465" indent="-1270">
              <a:lnSpc>
                <a:spcPct val="150000"/>
              </a:lnSpc>
              <a:spcBef>
                <a:spcPts val="37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entirely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meanings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because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depends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9664" y="5108676"/>
            <a:ext cx="3752215" cy="1273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4415" marR="5080" indent="-102235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figure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what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actually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mean?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600">
              <a:latin typeface="Arial"/>
              <a:cs typeface="Arial"/>
            </a:endParaRPr>
          </a:p>
          <a:p>
            <a:pPr marL="79502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0326" y="5698959"/>
            <a:ext cx="170780" cy="407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92499" cy="359677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9597" y="405398"/>
            <a:ext cx="691769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i="0">
                <a:latin typeface="Arial"/>
                <a:cs typeface="Arial"/>
              </a:rPr>
              <a:t>BERT</a:t>
            </a:r>
            <a:r>
              <a:rPr dirty="0" sz="2800" spc="-70" i="0">
                <a:latin typeface="Arial"/>
                <a:cs typeface="Arial"/>
              </a:rPr>
              <a:t> </a:t>
            </a:r>
            <a:r>
              <a:rPr dirty="0" sz="2800" i="0">
                <a:latin typeface="Arial"/>
                <a:cs typeface="Arial"/>
              </a:rPr>
              <a:t>:</a:t>
            </a:r>
            <a:r>
              <a:rPr dirty="0" sz="2800" spc="-65" i="0">
                <a:latin typeface="Arial"/>
                <a:cs typeface="Arial"/>
              </a:rPr>
              <a:t> </a:t>
            </a:r>
            <a:r>
              <a:rPr dirty="0" sz="2800" i="0">
                <a:latin typeface="Arial"/>
                <a:cs typeface="Arial"/>
              </a:rPr>
              <a:t>A</a:t>
            </a:r>
            <a:r>
              <a:rPr dirty="0" sz="2800" spc="-65" i="0">
                <a:latin typeface="Arial"/>
                <a:cs typeface="Arial"/>
              </a:rPr>
              <a:t> </a:t>
            </a:r>
            <a:r>
              <a:rPr dirty="0" sz="2800" i="0">
                <a:latin typeface="Arial"/>
                <a:cs typeface="Arial"/>
              </a:rPr>
              <a:t>Powerful</a:t>
            </a:r>
            <a:r>
              <a:rPr dirty="0" sz="2800" spc="-65" i="0">
                <a:latin typeface="Arial"/>
                <a:cs typeface="Arial"/>
              </a:rPr>
              <a:t> </a:t>
            </a:r>
            <a:r>
              <a:rPr dirty="0" sz="2800" i="0">
                <a:latin typeface="Arial"/>
                <a:cs typeface="Arial"/>
              </a:rPr>
              <a:t>Language</a:t>
            </a:r>
            <a:r>
              <a:rPr dirty="0" sz="2800" spc="-65" i="0">
                <a:latin typeface="Arial"/>
                <a:cs typeface="Arial"/>
              </a:rPr>
              <a:t> </a:t>
            </a:r>
            <a:r>
              <a:rPr dirty="0" sz="2800" i="0">
                <a:latin typeface="Arial"/>
                <a:cs typeface="Arial"/>
              </a:rPr>
              <a:t>Model</a:t>
            </a:r>
            <a:r>
              <a:rPr dirty="0" sz="2800" spc="-70" i="0">
                <a:latin typeface="Arial"/>
                <a:cs typeface="Arial"/>
              </a:rPr>
              <a:t> </a:t>
            </a:r>
            <a:r>
              <a:rPr dirty="0" sz="2800" spc="-20" i="0">
                <a:latin typeface="Arial"/>
                <a:cs typeface="Arial"/>
              </a:rPr>
              <a:t>That </a:t>
            </a:r>
            <a:r>
              <a:rPr dirty="0" sz="2800" spc="-10" i="0">
                <a:latin typeface="Arial"/>
                <a:cs typeface="Arial"/>
              </a:rPr>
              <a:t>Understands</a:t>
            </a:r>
            <a:r>
              <a:rPr dirty="0" sz="2800" spc="-95" i="0">
                <a:latin typeface="Arial"/>
                <a:cs typeface="Arial"/>
              </a:rPr>
              <a:t> </a:t>
            </a:r>
            <a:r>
              <a:rPr dirty="0" sz="2800" spc="-10" i="0">
                <a:latin typeface="Arial"/>
                <a:cs typeface="Arial"/>
              </a:rPr>
              <a:t>Context.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64091" y="0"/>
            <a:ext cx="2927908" cy="9767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5558" y="1859775"/>
            <a:ext cx="2898140" cy="1367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16BBC"/>
                </a:solidFill>
                <a:latin typeface="Arial"/>
                <a:cs typeface="Arial"/>
              </a:rPr>
              <a:t>PRE</a:t>
            </a:r>
            <a:r>
              <a:rPr dirty="0" sz="1800" spc="-40" b="1">
                <a:solidFill>
                  <a:srgbClr val="216BBC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16BBC"/>
                </a:solidFill>
                <a:latin typeface="Arial"/>
                <a:cs typeface="Arial"/>
              </a:rPr>
              <a:t>TRAINED</a:t>
            </a:r>
            <a:r>
              <a:rPr dirty="0" sz="1800" spc="-40" b="1">
                <a:solidFill>
                  <a:srgbClr val="216BBC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216BBC"/>
                </a:solidFill>
                <a:latin typeface="Arial"/>
                <a:cs typeface="Arial"/>
              </a:rPr>
              <a:t>BERT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Learns</a:t>
            </a:r>
            <a:r>
              <a:rPr dirty="0" sz="1600" spc="280">
                <a:solidFill>
                  <a:srgbClr val="FFFFFF"/>
                </a:solidFill>
                <a:latin typeface="Arial"/>
                <a:cs typeface="Arial"/>
              </a:rPr>
              <a:t>  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dirty="0" sz="1600" spc="280">
                <a:solidFill>
                  <a:srgbClr val="FFFFFF"/>
                </a:solidFill>
                <a:latin typeface="Arial"/>
                <a:cs typeface="Arial"/>
              </a:rPr>
              <a:t>   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language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representation</a:t>
            </a:r>
            <a:r>
              <a:rPr dirty="0" sz="1600" spc="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600" spc="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dirty="0" sz="1600" spc="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text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copera.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018" y="1747647"/>
            <a:ext cx="1096924" cy="76978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27716" y="2636875"/>
            <a:ext cx="499729" cy="19311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710997" y="1859775"/>
            <a:ext cx="2610485" cy="1367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72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556D7"/>
                </a:solidFill>
                <a:latin typeface="Arial"/>
                <a:cs typeface="Arial"/>
              </a:rPr>
              <a:t>FINE</a:t>
            </a:r>
            <a:r>
              <a:rPr dirty="0" sz="1800" spc="-20" b="1">
                <a:solidFill>
                  <a:srgbClr val="7556D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7556D7"/>
                </a:solidFill>
                <a:latin typeface="Arial"/>
                <a:cs typeface="Arial"/>
              </a:rPr>
              <a:t>TUNING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8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Adapts</a:t>
            </a:r>
            <a:r>
              <a:rPr dirty="0" sz="1600" spc="385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dirty="0" sz="1600" spc="385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39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our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r>
              <a:rPr dirty="0" sz="1600" spc="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600" spc="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600" spc="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SMILE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15789" y="1813839"/>
            <a:ext cx="549348" cy="5493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07297" y="1831619"/>
            <a:ext cx="549348" cy="54935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554360" y="1829295"/>
            <a:ext cx="13843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3065">
              <a:lnSpc>
                <a:spcPct val="111100"/>
              </a:lnSpc>
              <a:spcBef>
                <a:spcPts val="100"/>
              </a:spcBef>
            </a:pPr>
            <a:r>
              <a:rPr dirty="0" sz="1800" b="1">
                <a:solidFill>
                  <a:srgbClr val="F66B79"/>
                </a:solidFill>
                <a:latin typeface="Arial"/>
                <a:cs typeface="Arial"/>
              </a:rPr>
              <a:t>7</a:t>
            </a:r>
            <a:r>
              <a:rPr dirty="0" sz="1800" spc="-10" b="1">
                <a:solidFill>
                  <a:srgbClr val="F66B79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66B79"/>
                </a:solidFill>
                <a:latin typeface="Arial"/>
                <a:cs typeface="Arial"/>
              </a:rPr>
              <a:t>CLASS </a:t>
            </a:r>
            <a:r>
              <a:rPr dirty="0" sz="1800" spc="-10" b="1">
                <a:solidFill>
                  <a:srgbClr val="F66B79"/>
                </a:solidFill>
                <a:latin typeface="Arial"/>
                <a:cs typeface="Arial"/>
              </a:rPr>
              <a:t>CLASSIFIER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19237" y="2636875"/>
            <a:ext cx="499729" cy="1931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607809" y="2469912"/>
            <a:ext cx="23291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Predicts</a:t>
            </a:r>
            <a:r>
              <a:rPr dirty="0" sz="1600" spc="5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6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emotion</a:t>
            </a:r>
            <a:r>
              <a:rPr dirty="0" sz="1600" spc="6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tweet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558" y="3506232"/>
            <a:ext cx="24415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bert-base-uncased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7569" y="3429000"/>
            <a:ext cx="2938145" cy="346075"/>
          </a:xfrm>
          <a:custGeom>
            <a:avLst/>
            <a:gdLst/>
            <a:ahLst/>
            <a:cxnLst/>
            <a:rect l="l" t="t" r="r" b="b"/>
            <a:pathLst>
              <a:path w="2938145" h="346075">
                <a:moveTo>
                  <a:pt x="0" y="57594"/>
                </a:moveTo>
                <a:lnTo>
                  <a:pt x="4555" y="35265"/>
                </a:lnTo>
                <a:lnTo>
                  <a:pt x="16948" y="16948"/>
                </a:lnTo>
                <a:lnTo>
                  <a:pt x="35265" y="4555"/>
                </a:lnTo>
                <a:lnTo>
                  <a:pt x="57593" y="0"/>
                </a:lnTo>
                <a:lnTo>
                  <a:pt x="2880423" y="0"/>
                </a:lnTo>
                <a:lnTo>
                  <a:pt x="2902747" y="4555"/>
                </a:lnTo>
                <a:lnTo>
                  <a:pt x="2921065" y="16948"/>
                </a:lnTo>
                <a:lnTo>
                  <a:pt x="2933460" y="35265"/>
                </a:lnTo>
                <a:lnTo>
                  <a:pt x="2938018" y="57594"/>
                </a:lnTo>
                <a:lnTo>
                  <a:pt x="2938018" y="287959"/>
                </a:lnTo>
                <a:lnTo>
                  <a:pt x="2933460" y="310289"/>
                </a:lnTo>
                <a:lnTo>
                  <a:pt x="2921065" y="328606"/>
                </a:lnTo>
                <a:lnTo>
                  <a:pt x="2902747" y="340998"/>
                </a:lnTo>
                <a:lnTo>
                  <a:pt x="2880423" y="345554"/>
                </a:lnTo>
                <a:lnTo>
                  <a:pt x="57593" y="345554"/>
                </a:lnTo>
                <a:lnTo>
                  <a:pt x="35265" y="340998"/>
                </a:lnTo>
                <a:lnTo>
                  <a:pt x="16948" y="328606"/>
                </a:lnTo>
                <a:lnTo>
                  <a:pt x="4555" y="310289"/>
                </a:lnTo>
                <a:lnTo>
                  <a:pt x="0" y="287959"/>
                </a:lnTo>
                <a:lnTo>
                  <a:pt x="0" y="57594"/>
                </a:lnTo>
                <a:close/>
              </a:path>
            </a:pathLst>
          </a:custGeom>
          <a:ln w="25399">
            <a:solidFill>
              <a:srgbClr val="6C696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653773"/>
            <a:ext cx="2801937" cy="120422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089" y="4109719"/>
            <a:ext cx="6418910" cy="27482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0873" y="4404372"/>
            <a:ext cx="11674436" cy="95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38" y="2059584"/>
            <a:ext cx="3472586" cy="109891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81500" y="3387483"/>
            <a:ext cx="3235325" cy="1858010"/>
            <a:chOff x="881500" y="3387483"/>
            <a:chExt cx="3235325" cy="185801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1500" y="4022420"/>
              <a:ext cx="3235236" cy="12226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4498" y="3387483"/>
              <a:ext cx="193327" cy="609371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954" y="970552"/>
            <a:ext cx="7503045" cy="588744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261865" y="254364"/>
            <a:ext cx="3970654" cy="1245235"/>
          </a:xfrm>
          <a:prstGeom prst="rect"/>
        </p:spPr>
        <p:txBody>
          <a:bodyPr wrap="square" lIns="0" tIns="258445" rIns="0" bIns="0" rtlCol="0" vert="horz">
            <a:spAutoFit/>
          </a:bodyPr>
          <a:lstStyle/>
          <a:p>
            <a:pPr marL="761365">
              <a:lnSpc>
                <a:spcPct val="100000"/>
              </a:lnSpc>
              <a:spcBef>
                <a:spcPts val="2035"/>
              </a:spcBef>
            </a:pPr>
            <a:r>
              <a:rPr dirty="0" sz="4000"/>
              <a:t>The</a:t>
            </a:r>
            <a:r>
              <a:rPr dirty="0" sz="4000" spc="-25"/>
              <a:t> </a:t>
            </a:r>
            <a:r>
              <a:rPr dirty="0" sz="4000" spc="-20"/>
              <a:t>Data</a:t>
            </a:r>
            <a:endParaRPr sz="4000"/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700" b="0" i="0">
                <a:latin typeface="Arial"/>
                <a:cs typeface="Arial"/>
              </a:rPr>
              <a:t>Real</a:t>
            </a:r>
            <a:r>
              <a:rPr dirty="0" sz="1700" spc="-60" b="0" i="0">
                <a:latin typeface="Arial"/>
                <a:cs typeface="Arial"/>
              </a:rPr>
              <a:t> </a:t>
            </a:r>
            <a:r>
              <a:rPr dirty="0" sz="1700" b="0" i="0">
                <a:latin typeface="Arial"/>
                <a:cs typeface="Arial"/>
              </a:rPr>
              <a:t>tweets</a:t>
            </a:r>
            <a:r>
              <a:rPr dirty="0" sz="1700" spc="-55" b="0" i="0">
                <a:latin typeface="Arial"/>
                <a:cs typeface="Arial"/>
              </a:rPr>
              <a:t> </a:t>
            </a:r>
            <a:r>
              <a:rPr dirty="0" sz="1700" b="0" i="0">
                <a:latin typeface="Arial"/>
                <a:cs typeface="Arial"/>
              </a:rPr>
              <a:t>that</a:t>
            </a:r>
            <a:r>
              <a:rPr dirty="0" sz="1700" spc="-55" b="0" i="0">
                <a:latin typeface="Arial"/>
                <a:cs typeface="Arial"/>
              </a:rPr>
              <a:t> </a:t>
            </a:r>
            <a:r>
              <a:rPr dirty="0" sz="1700" b="0" i="0">
                <a:latin typeface="Arial"/>
                <a:cs typeface="Arial"/>
              </a:rPr>
              <a:t>propose</a:t>
            </a:r>
            <a:r>
              <a:rPr dirty="0" sz="1700" spc="-55" b="0" i="0">
                <a:latin typeface="Arial"/>
                <a:cs typeface="Arial"/>
              </a:rPr>
              <a:t> </a:t>
            </a:r>
            <a:r>
              <a:rPr dirty="0" sz="1700" b="0" i="0">
                <a:latin typeface="Arial"/>
                <a:cs typeface="Arial"/>
              </a:rPr>
              <a:t>real</a:t>
            </a:r>
            <a:r>
              <a:rPr dirty="0" sz="1700" spc="-55" b="0" i="0">
                <a:latin typeface="Arial"/>
                <a:cs typeface="Arial"/>
              </a:rPr>
              <a:t> </a:t>
            </a:r>
            <a:r>
              <a:rPr dirty="0" sz="1700" spc="-10" b="0" i="0">
                <a:latin typeface="Arial"/>
                <a:cs typeface="Arial"/>
              </a:rPr>
              <a:t>complexity.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0521" y="5435917"/>
            <a:ext cx="69659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400" spc="-10">
                <a:latin typeface="Arial"/>
                <a:cs typeface="Arial"/>
              </a:rPr>
              <a:t>Different classes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891" y="5936513"/>
            <a:ext cx="5874385" cy="43116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  <a:tabLst>
                <a:tab pos="526415" algn="l"/>
                <a:tab pos="1514475" algn="l"/>
                <a:tab pos="2216785" algn="l"/>
                <a:tab pos="2641600" algn="l"/>
                <a:tab pos="3826510" algn="l"/>
                <a:tab pos="4330700" algn="l"/>
                <a:tab pos="4913630" algn="l"/>
              </a:tabLst>
            </a:pP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imbalance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makes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challenging.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Especially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emotions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entries.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8559"/>
            <a:ext cx="12192000" cy="64442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36671" y="424481"/>
            <a:ext cx="586613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From</a:t>
            </a:r>
            <a:r>
              <a:rPr dirty="0" sz="4000" spc="-35"/>
              <a:t> </a:t>
            </a:r>
            <a:r>
              <a:rPr dirty="0" sz="4000"/>
              <a:t>Text</a:t>
            </a:r>
            <a:r>
              <a:rPr dirty="0" sz="4000" spc="-35"/>
              <a:t> </a:t>
            </a:r>
            <a:r>
              <a:rPr dirty="0" sz="4000"/>
              <a:t>To</a:t>
            </a:r>
            <a:r>
              <a:rPr dirty="0" sz="4000" spc="-30"/>
              <a:t> </a:t>
            </a:r>
            <a:r>
              <a:rPr dirty="0" sz="4000" spc="-10"/>
              <a:t>Prediction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4363084" y="1214634"/>
            <a:ext cx="3516629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17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actually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works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9077" y="5531243"/>
            <a:ext cx="50711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raw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tweet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goes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model,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comes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out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8559"/>
            <a:ext cx="12192000" cy="64442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How</a:t>
            </a:r>
            <a:r>
              <a:rPr dirty="0" sz="4000" spc="-35"/>
              <a:t> </a:t>
            </a:r>
            <a:r>
              <a:rPr dirty="0" sz="4000"/>
              <a:t>The</a:t>
            </a:r>
            <a:r>
              <a:rPr dirty="0" sz="4000" spc="-35"/>
              <a:t> </a:t>
            </a:r>
            <a:r>
              <a:rPr dirty="0" sz="4000"/>
              <a:t>Model</a:t>
            </a:r>
            <a:r>
              <a:rPr dirty="0" sz="4000" spc="-35"/>
              <a:t> </a:t>
            </a:r>
            <a:r>
              <a:rPr dirty="0" sz="4000" spc="-10"/>
              <a:t>Learns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2811715" y="1214367"/>
            <a:ext cx="6618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rises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falls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epochs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8904" y="5531243"/>
            <a:ext cx="1019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Accuracy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↑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8753" y="5531243"/>
            <a:ext cx="6127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Loss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692499" cy="359677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7437" y="384328"/>
            <a:ext cx="2615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4091" y="0"/>
            <a:ext cx="2927908" cy="976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7894" y="1137439"/>
            <a:ext cx="43440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1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well</a:t>
            </a:r>
            <a:r>
              <a:rPr dirty="0" sz="1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dirty="0" sz="1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dirty="0" sz="17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perform</a:t>
            </a:r>
            <a:r>
              <a:rPr dirty="0" sz="1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unseen</a:t>
            </a:r>
            <a:r>
              <a:rPr dirty="0" sz="17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data?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2252" y="2170798"/>
            <a:ext cx="2564130" cy="1918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657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216BBC"/>
                </a:solidFill>
                <a:latin typeface="Arial"/>
                <a:cs typeface="Arial"/>
              </a:rPr>
              <a:t>76.16</a:t>
            </a:r>
            <a:r>
              <a:rPr dirty="0" sz="3200" spc="-15" b="1">
                <a:solidFill>
                  <a:srgbClr val="216BBC"/>
                </a:solidFill>
                <a:latin typeface="Arial"/>
                <a:cs typeface="Arial"/>
              </a:rPr>
              <a:t> </a:t>
            </a:r>
            <a:r>
              <a:rPr dirty="0" sz="3200" spc="-50" b="1">
                <a:solidFill>
                  <a:srgbClr val="216BBC"/>
                </a:solidFill>
                <a:latin typeface="Arial"/>
                <a:cs typeface="Arial"/>
              </a:rPr>
              <a:t>%</a:t>
            </a:r>
            <a:endParaRPr sz="3200">
              <a:latin typeface="Arial"/>
              <a:cs typeface="Arial"/>
            </a:endParaRPr>
          </a:p>
          <a:p>
            <a:pPr marL="316865">
              <a:lnSpc>
                <a:spcPct val="100000"/>
              </a:lnSpc>
              <a:spcBef>
                <a:spcPts val="219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240"/>
              </a:spcBef>
              <a:tabLst>
                <a:tab pos="926465" algn="l"/>
                <a:tab pos="2296795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Overall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correctness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unseen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72902" y="2327782"/>
            <a:ext cx="671051" cy="6710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84457" y="2170798"/>
            <a:ext cx="1516380" cy="1065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C00000"/>
                </a:solidFill>
                <a:latin typeface="Arial"/>
                <a:cs typeface="Arial"/>
              </a:rPr>
              <a:t>54.75</a:t>
            </a:r>
            <a:r>
              <a:rPr dirty="0" sz="32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200" spc="-50" b="1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32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219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MACRO-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F1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48256" y="2327782"/>
            <a:ext cx="614516" cy="6145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097023" y="2170798"/>
            <a:ext cx="1599565" cy="1065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216BBC"/>
                </a:solidFill>
                <a:latin typeface="Arial"/>
                <a:cs typeface="Arial"/>
              </a:rPr>
              <a:t>76.93</a:t>
            </a:r>
            <a:r>
              <a:rPr dirty="0" sz="3200" spc="-15" b="1">
                <a:solidFill>
                  <a:srgbClr val="216BBC"/>
                </a:solidFill>
                <a:latin typeface="Arial"/>
                <a:cs typeface="Arial"/>
              </a:rPr>
              <a:t> </a:t>
            </a:r>
            <a:r>
              <a:rPr dirty="0" sz="3200" spc="-50" b="1">
                <a:solidFill>
                  <a:srgbClr val="216BBC"/>
                </a:solidFill>
                <a:latin typeface="Arial"/>
                <a:cs typeface="Arial"/>
              </a:rPr>
              <a:t>%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WEIGHTED-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F1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653773"/>
            <a:ext cx="2801937" cy="120422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089" y="4109719"/>
            <a:ext cx="6418910" cy="27482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12151" y="3378518"/>
            <a:ext cx="3431540" cy="1077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Equal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Weight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365"/>
              </a:spcBef>
              <a:tabLst>
                <a:tab pos="944880" algn="l"/>
                <a:tab pos="2283460" algn="l"/>
                <a:tab pos="2707640" algn="l"/>
              </a:tabLst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Reveals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minority classes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93777" y="3378518"/>
            <a:ext cx="3577590" cy="711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Influenced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majority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classes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dirty="0" sz="16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dirty="0" sz="1600" spc="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dirty="0" sz="16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imbalanace</a:t>
            </a:r>
            <a:r>
              <a:rPr dirty="0" sz="1600" spc="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93777" y="4186776"/>
            <a:ext cx="691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4550" y="5347208"/>
            <a:ext cx="66884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alone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cannot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judge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performance..</a:t>
            </a:r>
            <a:endParaRPr sz="16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F1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scores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clearly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addresses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underlying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imbalanced dataset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00404" y="350594"/>
            <a:ext cx="100285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So..</a:t>
            </a:r>
            <a:r>
              <a:rPr dirty="0" spc="-50"/>
              <a:t> </a:t>
            </a:r>
            <a:r>
              <a:rPr dirty="0"/>
              <a:t>Can</a:t>
            </a:r>
            <a:r>
              <a:rPr dirty="0" spc="-50"/>
              <a:t> </a:t>
            </a:r>
            <a:r>
              <a:rPr dirty="0"/>
              <a:t>BERT</a:t>
            </a:r>
            <a:r>
              <a:rPr dirty="0" spc="-45"/>
              <a:t> </a:t>
            </a:r>
            <a:r>
              <a:rPr dirty="0"/>
              <a:t>Actually</a:t>
            </a:r>
            <a:r>
              <a:rPr dirty="0" spc="-50"/>
              <a:t> </a:t>
            </a:r>
            <a:r>
              <a:rPr dirty="0"/>
              <a:t>Understand</a:t>
            </a:r>
            <a:r>
              <a:rPr dirty="0" spc="-45"/>
              <a:t> </a:t>
            </a:r>
            <a:r>
              <a:rPr dirty="0"/>
              <a:t>What</a:t>
            </a:r>
            <a:r>
              <a:rPr dirty="0" spc="-50"/>
              <a:t> </a:t>
            </a:r>
            <a:r>
              <a:rPr dirty="0" spc="-25"/>
              <a:t>You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07520" y="899235"/>
            <a:ext cx="12192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 i="1">
                <a:solidFill>
                  <a:srgbClr val="FFFFFF"/>
                </a:solidFill>
                <a:latin typeface="Arial"/>
                <a:cs typeface="Arial"/>
              </a:rPr>
              <a:t>Feel?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41221"/>
            <a:ext cx="3979151" cy="54167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07472" y="1608582"/>
            <a:ext cx="9422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doesn’t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really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feel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emotions,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learns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language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classify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expresses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7890" y="2268016"/>
            <a:ext cx="3624884" cy="16766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1502" y="2268016"/>
            <a:ext cx="3642398" cy="167665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592" y="4023626"/>
            <a:ext cx="4145407" cy="28343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36459" y="4523333"/>
            <a:ext cx="67735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6760" marR="5080" indent="-200469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Understanding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isn't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reading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emotions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it's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express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8559"/>
            <a:ext cx="12192000" cy="64442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2928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 spc="-10"/>
              <a:t>Materials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060"/>
              </a:spcBef>
              <a:buAutoNum type="arabicPlain"/>
              <a:tabLst>
                <a:tab pos="294640" algn="l"/>
              </a:tabLst>
            </a:pPr>
            <a:r>
              <a:rPr dirty="0"/>
              <a:t>— </a:t>
            </a:r>
            <a:r>
              <a:rPr dirty="0" spc="-20"/>
              <a:t>BERT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b="0">
                <a:latin typeface="Arial"/>
                <a:cs typeface="Arial"/>
              </a:rPr>
              <a:t>Devlin,</a:t>
            </a:r>
            <a:r>
              <a:rPr dirty="0" spc="-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J.,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Chang,</a:t>
            </a:r>
            <a:r>
              <a:rPr dirty="0" spc="-25" b="0">
                <a:latin typeface="Arial"/>
                <a:cs typeface="Arial"/>
              </a:rPr>
              <a:t> </a:t>
            </a:r>
            <a:r>
              <a:rPr dirty="0" spc="-20" b="0">
                <a:latin typeface="Arial"/>
                <a:cs typeface="Arial"/>
              </a:rPr>
              <a:t>M.-</a:t>
            </a:r>
            <a:r>
              <a:rPr dirty="0" b="0">
                <a:latin typeface="Arial"/>
                <a:cs typeface="Arial"/>
              </a:rPr>
              <a:t>W.,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Lee,</a:t>
            </a:r>
            <a:r>
              <a:rPr dirty="0" spc="-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K.,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&amp;</a:t>
            </a:r>
            <a:r>
              <a:rPr dirty="0" spc="-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Toutanova,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spc="-25" b="0">
                <a:latin typeface="Arial"/>
                <a:cs typeface="Arial"/>
              </a:rPr>
              <a:t>K.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b="0" i="1">
                <a:latin typeface="Arial"/>
                <a:cs typeface="Arial"/>
              </a:rPr>
              <a:t>BERT:</a:t>
            </a:r>
            <a:r>
              <a:rPr dirty="0" spc="-40" b="0" i="1">
                <a:latin typeface="Arial"/>
                <a:cs typeface="Arial"/>
              </a:rPr>
              <a:t> </a:t>
            </a:r>
            <a:r>
              <a:rPr dirty="0" spc="-10" b="0" i="1">
                <a:latin typeface="Arial"/>
                <a:cs typeface="Arial"/>
              </a:rPr>
              <a:t>Pre-</a:t>
            </a:r>
            <a:r>
              <a:rPr dirty="0" b="0" i="1">
                <a:latin typeface="Arial"/>
                <a:cs typeface="Arial"/>
              </a:rPr>
              <a:t>training</a:t>
            </a:r>
            <a:r>
              <a:rPr dirty="0" spc="-3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of</a:t>
            </a:r>
            <a:r>
              <a:rPr dirty="0" spc="-3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Deep</a:t>
            </a:r>
            <a:r>
              <a:rPr dirty="0" spc="-40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Bidirectional</a:t>
            </a:r>
            <a:r>
              <a:rPr dirty="0" spc="-3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Transformers</a:t>
            </a:r>
            <a:r>
              <a:rPr dirty="0" spc="-3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for</a:t>
            </a:r>
            <a:r>
              <a:rPr dirty="0" spc="-3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Language</a:t>
            </a:r>
            <a:r>
              <a:rPr dirty="0" spc="-40" b="0" i="1">
                <a:latin typeface="Arial"/>
                <a:cs typeface="Arial"/>
              </a:rPr>
              <a:t> </a:t>
            </a:r>
            <a:r>
              <a:rPr dirty="0" spc="-10" b="0" i="1">
                <a:latin typeface="Arial"/>
                <a:cs typeface="Arial"/>
              </a:rPr>
              <a:t>Understanding.</a:t>
            </a:r>
          </a:p>
          <a:p>
            <a:pPr marL="294640" indent="-281940">
              <a:lnSpc>
                <a:spcPct val="100000"/>
              </a:lnSpc>
              <a:spcBef>
                <a:spcPts val="960"/>
              </a:spcBef>
              <a:buAutoNum type="arabicPlain" startAt="2"/>
              <a:tabLst>
                <a:tab pos="294640" algn="l"/>
              </a:tabLst>
            </a:pPr>
            <a:r>
              <a:rPr dirty="0"/>
              <a:t>—</a:t>
            </a:r>
            <a:r>
              <a:rPr dirty="0" spc="-40"/>
              <a:t> </a:t>
            </a:r>
            <a:r>
              <a:rPr dirty="0"/>
              <a:t>Sentiment</a:t>
            </a:r>
            <a:r>
              <a:rPr dirty="0" spc="-40"/>
              <a:t> </a:t>
            </a:r>
            <a:r>
              <a:rPr dirty="0"/>
              <a:t>Classification</a:t>
            </a:r>
            <a:r>
              <a:rPr dirty="0" spc="-35"/>
              <a:t> </a:t>
            </a:r>
            <a:r>
              <a:rPr dirty="0"/>
              <a:t>using</a:t>
            </a:r>
            <a:r>
              <a:rPr dirty="0" spc="-40"/>
              <a:t> </a:t>
            </a:r>
            <a:r>
              <a:rPr dirty="0" spc="-20"/>
              <a:t>BERT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pc="-10" b="0">
                <a:latin typeface="Arial"/>
                <a:cs typeface="Arial"/>
              </a:rPr>
              <a:t>GeeksforGeeks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b="0" i="1">
                <a:latin typeface="Arial"/>
                <a:cs typeface="Arial"/>
              </a:rPr>
              <a:t>Sentiment</a:t>
            </a:r>
            <a:r>
              <a:rPr dirty="0" spc="-4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Classification</a:t>
            </a:r>
            <a:r>
              <a:rPr dirty="0" spc="-40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Using</a:t>
            </a:r>
            <a:r>
              <a:rPr dirty="0" spc="-45" b="0" i="1">
                <a:latin typeface="Arial"/>
                <a:cs typeface="Arial"/>
              </a:rPr>
              <a:t> </a:t>
            </a:r>
            <a:r>
              <a:rPr dirty="0" spc="-20" b="0" i="1">
                <a:latin typeface="Arial"/>
                <a:cs typeface="Arial"/>
              </a:rPr>
              <a:t>BERT</a:t>
            </a:r>
          </a:p>
          <a:p>
            <a:pPr marL="294640" indent="-281940">
              <a:lnSpc>
                <a:spcPct val="100000"/>
              </a:lnSpc>
              <a:spcBef>
                <a:spcPts val="960"/>
              </a:spcBef>
              <a:buAutoNum type="arabicPlain" startAt="3"/>
              <a:tabLst>
                <a:tab pos="294640" algn="l"/>
              </a:tabLst>
            </a:pPr>
            <a:r>
              <a:rPr dirty="0"/>
              <a:t>— </a:t>
            </a: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b="0">
                <a:latin typeface="Arial"/>
                <a:cs typeface="Arial"/>
              </a:rPr>
              <a:t>SMILE</a:t>
            </a:r>
            <a:r>
              <a:rPr dirty="0" spc="-4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Twitter</a:t>
            </a:r>
            <a:r>
              <a:rPr dirty="0" spc="-3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Emotion</a:t>
            </a:r>
            <a:r>
              <a:rPr dirty="0" spc="-35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Dataset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b="0" i="1">
                <a:latin typeface="Arial"/>
                <a:cs typeface="Arial"/>
              </a:rPr>
              <a:t>Used for </a:t>
            </a:r>
            <a:r>
              <a:rPr dirty="0" spc="-10" b="0" i="1">
                <a:latin typeface="Arial"/>
                <a:cs typeface="Arial"/>
              </a:rPr>
              <a:t>emotion/sentiment</a:t>
            </a:r>
            <a:r>
              <a:rPr dirty="0" b="0" i="1">
                <a:latin typeface="Arial"/>
                <a:cs typeface="Arial"/>
              </a:rPr>
              <a:t> </a:t>
            </a:r>
            <a:r>
              <a:rPr dirty="0" spc="-10" b="0" i="1">
                <a:latin typeface="Arial"/>
                <a:cs typeface="Arial"/>
              </a:rPr>
              <a:t>classification.</a:t>
            </a:r>
          </a:p>
          <a:p>
            <a:pPr marL="294640" indent="-281940">
              <a:lnSpc>
                <a:spcPct val="100000"/>
              </a:lnSpc>
              <a:spcBef>
                <a:spcPts val="960"/>
              </a:spcBef>
              <a:buAutoNum type="arabicPlain" startAt="4"/>
              <a:tabLst>
                <a:tab pos="294640" algn="l"/>
              </a:tabLst>
            </a:pPr>
            <a:r>
              <a:rPr dirty="0"/>
              <a:t>— </a:t>
            </a:r>
            <a:r>
              <a:rPr dirty="0" spc="-10"/>
              <a:t>Implementation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b="0">
                <a:latin typeface="Arial"/>
                <a:cs typeface="Arial"/>
              </a:rPr>
              <a:t>Python</a:t>
            </a:r>
            <a:r>
              <a:rPr dirty="0" spc="-6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·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PyTorch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·</a:t>
            </a:r>
            <a:r>
              <a:rPr dirty="0" spc="-6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Hugging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Face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Transformers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·</a:t>
            </a:r>
            <a:r>
              <a:rPr dirty="0" spc="-6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Google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Colab/Jupyter</a:t>
            </a:r>
            <a:r>
              <a:rPr dirty="0" spc="-60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8488" y="1349895"/>
            <a:ext cx="36131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Code.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Dataset.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Notebook.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Presentation.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2026-09-11T21:36:32Z</dcterms:created>
  <dcterms:modified xsi:type="dcterms:W3CDTF">2026-09-11T21:36:32Z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2026-09-11T00:00:00Z</vt:filetime>
  </property>
  <property fmtid="{D5CDD505-2E9C-101B-9397-08002B2CF9AE}" pid="4" name="LastSaved">
    <vt:filetime>2026-09-11T00:00:00Z</vt:filetime>
  </property>
  <property fmtid="{D5CDD505-2E9C-101B-9397-08002B2CF9AE}" pid="5" name="Producer">
    <vt:lpwstr>3-Heights(TM) PDF Security Shell 4.8.25.2 (http://www.pdf-tools.com)</vt:lpwstr>
  </property>
</Properties>
</file>